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0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6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7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3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0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5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6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8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0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5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5835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89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3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8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02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83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86C1-C543-4A60-9DDE-88B336F2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5C29-8EAD-4632-B8D4-0ADF05F8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BEF2-0F25-4F7F-892C-5C94E8A6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E95D6-E3D7-494B-8BDC-43EA9871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21FD-62EB-4B37-A7F3-71680539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9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868DEF8-3AF2-449B-BE95-DB3C8A615A53}" type="datetimeFigureOut">
              <a:rPr lang="en-US" smtClean="0"/>
              <a:t>5/12/2021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2CBBF1E-D3C6-4C4D-95F2-118A376F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F07AF9-FB33-42CD-AB4B-0152C06AE646}"/>
              </a:ext>
            </a:extLst>
          </p:cNvPr>
          <p:cNvSpPr/>
          <p:nvPr/>
        </p:nvSpPr>
        <p:spPr>
          <a:xfrm>
            <a:off x="1560825" y="1741851"/>
            <a:ext cx="858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Geographical origin of music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4EDC2-ACB5-4E33-9145-1F0C140BE269}"/>
              </a:ext>
            </a:extLst>
          </p:cNvPr>
          <p:cNvSpPr/>
          <p:nvPr/>
        </p:nvSpPr>
        <p:spPr>
          <a:xfrm>
            <a:off x="5104703" y="3228945"/>
            <a:ext cx="198259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 9890 </a:t>
            </a:r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B12D19-BB34-4C15-8876-F34A285BDA19}"/>
              </a:ext>
            </a:extLst>
          </p:cNvPr>
          <p:cNvSpPr/>
          <p:nvPr/>
        </p:nvSpPr>
        <p:spPr>
          <a:xfrm>
            <a:off x="5187129" y="3960300"/>
            <a:ext cx="181774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G</a:t>
            </a:r>
            <a:r>
              <a:rPr lang="en-US" altLang="zh-CN" sz="16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roup 24</a:t>
            </a:r>
            <a:r>
              <a:rPr lang="zh-CN" altLang="en-US" sz="16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6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Sili Wei</a:t>
            </a:r>
            <a:endParaRPr lang="en-US" sz="16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471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3E8416-0080-458F-B2D5-BA329A5C27A6}"/>
              </a:ext>
            </a:extLst>
          </p:cNvPr>
          <p:cNvSpPr/>
          <p:nvPr/>
        </p:nvSpPr>
        <p:spPr>
          <a:xfrm>
            <a:off x="112508" y="0"/>
            <a:ext cx="4861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</a:t>
            </a:r>
            <a:r>
              <a:rPr lang="en-US" altLang="zh-CN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ata description</a:t>
            </a:r>
            <a:endParaRPr lang="en-US" sz="54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4A4038-A07E-4692-9ABF-10C0FCFB7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282" y="622152"/>
            <a:ext cx="4549678" cy="2031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80D45F-CB82-4F8F-A085-CBE38A98D522}"/>
              </a:ext>
            </a:extLst>
          </p:cNvPr>
          <p:cNvSpPr txBox="1"/>
          <p:nvPr/>
        </p:nvSpPr>
        <p:spPr>
          <a:xfrm>
            <a:off x="659567" y="2653258"/>
            <a:ext cx="112276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N=1059</a:t>
            </a:r>
          </a:p>
          <a:p>
            <a:r>
              <a:rPr lang="en-US" sz="3200" dirty="0"/>
              <a:t>P=68</a:t>
            </a:r>
          </a:p>
          <a:p>
            <a:r>
              <a:rPr lang="en-US" sz="3200" dirty="0"/>
              <a:t>All numeric predictors</a:t>
            </a:r>
          </a:p>
          <a:p>
            <a:endParaRPr lang="en-US" sz="3200" dirty="0"/>
          </a:p>
          <a:p>
            <a:r>
              <a:rPr lang="en-US" sz="3200" dirty="0"/>
              <a:t>response variable: latitude and longitude of the capital of the country</a:t>
            </a:r>
          </a:p>
          <a:p>
            <a:endParaRPr lang="en-US" sz="3200" dirty="0"/>
          </a:p>
          <a:p>
            <a:r>
              <a:rPr lang="en-US" sz="3200" dirty="0"/>
              <a:t>Predictors: feature extracted from the wave file</a:t>
            </a:r>
          </a:p>
        </p:txBody>
      </p:sp>
    </p:spTree>
    <p:extLst>
      <p:ext uri="{BB962C8B-B14F-4D97-AF65-F5344CB8AC3E}">
        <p14:creationId xmlns:p14="http://schemas.microsoft.com/office/powerpoint/2010/main" val="3169464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id="{CA097F46-AA9A-4855-AA39-EEEC4E731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616" y="1150429"/>
            <a:ext cx="8202170" cy="51156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B999B5-7897-4C83-B529-274E0B1EC466}"/>
              </a:ext>
            </a:extLst>
          </p:cNvPr>
          <p:cNvSpPr/>
          <p:nvPr/>
        </p:nvSpPr>
        <p:spPr>
          <a:xfrm>
            <a:off x="201468" y="0"/>
            <a:ext cx="31272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R-squared</a:t>
            </a:r>
          </a:p>
        </p:txBody>
      </p:sp>
    </p:spTree>
    <p:extLst>
      <p:ext uri="{BB962C8B-B14F-4D97-AF65-F5344CB8AC3E}">
        <p14:creationId xmlns:p14="http://schemas.microsoft.com/office/powerpoint/2010/main" val="104001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2957784-3F35-41CF-B4D6-31EA0DF046B0}"/>
              </a:ext>
            </a:extLst>
          </p:cNvPr>
          <p:cNvSpPr/>
          <p:nvPr/>
        </p:nvSpPr>
        <p:spPr>
          <a:xfrm>
            <a:off x="0" y="0"/>
            <a:ext cx="53338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10-fold CV curves</a:t>
            </a:r>
            <a:endParaRPr lang="en-US" sz="54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F3913-1CEA-4479-86EB-80AD8BE1F10A}"/>
              </a:ext>
            </a:extLst>
          </p:cNvPr>
          <p:cNvSpPr txBox="1"/>
          <p:nvPr/>
        </p:nvSpPr>
        <p:spPr>
          <a:xfrm>
            <a:off x="9144000" y="923330"/>
            <a:ext cx="2758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Lasso:0.16s</a:t>
            </a:r>
          </a:p>
          <a:p>
            <a:r>
              <a:rPr lang="en-US" dirty="0"/>
              <a:t>Elastic-net:0.44s</a:t>
            </a:r>
          </a:p>
          <a:p>
            <a:r>
              <a:rPr lang="en-US" dirty="0"/>
              <a:t>Ridge:0.41s</a:t>
            </a:r>
          </a:p>
        </p:txBody>
      </p:sp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366440CF-D5AD-4414-A524-14B43BE13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307" y="3605687"/>
            <a:ext cx="5061386" cy="3156754"/>
          </a:xfrm>
          <a:prstGeom prst="rect">
            <a:avLst/>
          </a:prstGeom>
        </p:spPr>
      </p:pic>
      <p:pic>
        <p:nvPicPr>
          <p:cNvPr id="14" name="Picture 13" descr="Chart, histogram&#10;&#10;Description automatically generated">
            <a:extLst>
              <a:ext uri="{FF2B5EF4-FFF2-40B4-BE49-F238E27FC236}">
                <a16:creationId xmlns:a16="http://schemas.microsoft.com/office/drawing/2014/main" id="{77C18B75-E8D0-4E19-AE1F-442C6AE40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97" y="3693592"/>
            <a:ext cx="4779502" cy="2980944"/>
          </a:xfrm>
          <a:prstGeom prst="rect">
            <a:avLst/>
          </a:prstGeom>
        </p:spPr>
      </p:pic>
      <p:pic>
        <p:nvPicPr>
          <p:cNvPr id="16" name="Picture 15" descr="Chart, histogram&#10;&#10;Description automatically generated">
            <a:extLst>
              <a:ext uri="{FF2B5EF4-FFF2-40B4-BE49-F238E27FC236}">
                <a16:creationId xmlns:a16="http://schemas.microsoft.com/office/drawing/2014/main" id="{79AACC8A-BD8E-4CA4-83C2-1FF465BE6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440" y="818933"/>
            <a:ext cx="4776474" cy="297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2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id="{71AE1EBC-6B0D-4C3F-9F47-5EC9FA104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5" y="1125704"/>
            <a:ext cx="8202170" cy="51156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CF539B-F945-4357-A7D3-7E9845299CD5}"/>
              </a:ext>
            </a:extLst>
          </p:cNvPr>
          <p:cNvSpPr/>
          <p:nvPr/>
        </p:nvSpPr>
        <p:spPr>
          <a:xfrm>
            <a:off x="290854" y="0"/>
            <a:ext cx="2948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Residuals</a:t>
            </a:r>
          </a:p>
        </p:txBody>
      </p:sp>
    </p:spTree>
    <p:extLst>
      <p:ext uri="{BB962C8B-B14F-4D97-AF65-F5344CB8AC3E}">
        <p14:creationId xmlns:p14="http://schemas.microsoft.com/office/powerpoint/2010/main" val="334794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584D6A-4CBA-4FCA-8C22-60445F92D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097219"/>
              </p:ext>
            </p:extLst>
          </p:nvPr>
        </p:nvGraphicFramePr>
        <p:xfrm>
          <a:off x="844446" y="1726726"/>
          <a:ext cx="10503108" cy="3838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1036">
                  <a:extLst>
                    <a:ext uri="{9D8B030D-6E8A-4147-A177-3AD203B41FA5}">
                      <a16:colId xmlns:a16="http://schemas.microsoft.com/office/drawing/2014/main" val="759664838"/>
                    </a:ext>
                  </a:extLst>
                </a:gridCol>
                <a:gridCol w="3501036">
                  <a:extLst>
                    <a:ext uri="{9D8B030D-6E8A-4147-A177-3AD203B41FA5}">
                      <a16:colId xmlns:a16="http://schemas.microsoft.com/office/drawing/2014/main" val="3759664769"/>
                    </a:ext>
                  </a:extLst>
                </a:gridCol>
                <a:gridCol w="3501036">
                  <a:extLst>
                    <a:ext uri="{9D8B030D-6E8A-4147-A177-3AD203B41FA5}">
                      <a16:colId xmlns:a16="http://schemas.microsoft.com/office/drawing/2014/main" val="554259908"/>
                    </a:ext>
                  </a:extLst>
                </a:gridCol>
              </a:tblGrid>
              <a:tr h="743672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90% confidence interval R^2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271414"/>
                  </a:ext>
                </a:extLst>
              </a:tr>
              <a:tr h="754001">
                <a:tc>
                  <a:txBody>
                    <a:bodyPr/>
                    <a:lstStyle/>
                    <a:p>
                      <a:r>
                        <a:rPr lang="en-US" sz="2400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0.1706,0.1860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0.2164s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194810"/>
                  </a:ext>
                </a:extLst>
              </a:tr>
              <a:tr h="754001">
                <a:tc>
                  <a:txBody>
                    <a:bodyPr/>
                    <a:lstStyle/>
                    <a:p>
                      <a:r>
                        <a:rPr lang="en-US" sz="2400" dirty="0"/>
                        <a:t>Elastic-net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0.1688,0.1855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0.1695s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649401"/>
                  </a:ext>
                </a:extLst>
              </a:tr>
              <a:tr h="754001">
                <a:tc>
                  <a:txBody>
                    <a:bodyPr/>
                    <a:lstStyle/>
                    <a:p>
                      <a:r>
                        <a:rPr lang="en-US" sz="2400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0.1688,0.1825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0.1287s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826421"/>
                  </a:ext>
                </a:extLst>
              </a:tr>
              <a:tr h="754001">
                <a:tc>
                  <a:txBody>
                    <a:bodyPr/>
                    <a:lstStyle/>
                    <a:p>
                      <a:r>
                        <a:rPr lang="en-US" sz="24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0.2539,0.2643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5.1871s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90559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D9DDE26-BAB6-4522-8488-8056866D7FDB}"/>
              </a:ext>
            </a:extLst>
          </p:cNvPr>
          <p:cNvSpPr/>
          <p:nvPr/>
        </p:nvSpPr>
        <p:spPr>
          <a:xfrm>
            <a:off x="0" y="119921"/>
            <a:ext cx="84809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Confidence Interval and time</a:t>
            </a:r>
          </a:p>
        </p:txBody>
      </p:sp>
    </p:spTree>
    <p:extLst>
      <p:ext uri="{BB962C8B-B14F-4D97-AF65-F5344CB8AC3E}">
        <p14:creationId xmlns:p14="http://schemas.microsoft.com/office/powerpoint/2010/main" val="349829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319B7C2-9608-4DCE-988E-AAECFAB0B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21" y="1175980"/>
            <a:ext cx="8202170" cy="51156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D9F379-670D-4C96-9DBB-B0CB609174AB}"/>
              </a:ext>
            </a:extLst>
          </p:cNvPr>
          <p:cNvSpPr/>
          <p:nvPr/>
        </p:nvSpPr>
        <p:spPr>
          <a:xfrm>
            <a:off x="119387" y="0"/>
            <a:ext cx="64035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Estimated coefficients</a:t>
            </a:r>
          </a:p>
        </p:txBody>
      </p:sp>
    </p:spTree>
    <p:extLst>
      <p:ext uri="{BB962C8B-B14F-4D97-AF65-F5344CB8AC3E}">
        <p14:creationId xmlns:p14="http://schemas.microsoft.com/office/powerpoint/2010/main" val="648725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E7AA3B-5BFD-4FD6-84F2-3FC4C2FCC7E1}"/>
              </a:ext>
            </a:extLst>
          </p:cNvPr>
          <p:cNvSpPr/>
          <p:nvPr/>
        </p:nvSpPr>
        <p:spPr>
          <a:xfrm>
            <a:off x="205263" y="0"/>
            <a:ext cx="33570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91D5B-E621-400B-86B3-D3C1DF8CF2EA}"/>
              </a:ext>
            </a:extLst>
          </p:cNvPr>
          <p:cNvSpPr txBox="1"/>
          <p:nvPr/>
        </p:nvSpPr>
        <p:spPr>
          <a:xfrm>
            <a:off x="2347274" y="2215298"/>
            <a:ext cx="822959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linear models didn’t fit the data well.</a:t>
            </a:r>
          </a:p>
          <a:p>
            <a:endParaRPr lang="en-US" sz="2400" dirty="0"/>
          </a:p>
          <a:p>
            <a:r>
              <a:rPr lang="en-US" sz="2400" dirty="0"/>
              <a:t>Lasso and elastic-net performed almost the same.</a:t>
            </a:r>
          </a:p>
          <a:p>
            <a:endParaRPr lang="en-US" sz="2400" dirty="0"/>
          </a:p>
          <a:p>
            <a:r>
              <a:rPr lang="en-US" sz="2400" dirty="0"/>
              <a:t>The random forest had the best performance but took time.</a:t>
            </a:r>
          </a:p>
          <a:p>
            <a:endParaRPr lang="en-US" sz="2400" dirty="0"/>
          </a:p>
          <a:p>
            <a:r>
              <a:rPr lang="en-US" sz="2400" dirty="0"/>
              <a:t>Next step: enlarge the sample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8573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644</TotalTime>
  <Words>120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 SL</dc:creator>
  <cp:lastModifiedBy>W SL</cp:lastModifiedBy>
  <cp:revision>17</cp:revision>
  <dcterms:created xsi:type="dcterms:W3CDTF">2021-05-12T05:27:29Z</dcterms:created>
  <dcterms:modified xsi:type="dcterms:W3CDTF">2021-05-13T00:25:53Z</dcterms:modified>
</cp:coreProperties>
</file>